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25696" cy="6858000"/>
          </a:xfrm>
          <a:prstGeom prst="rect">
            <a:avLst/>
          </a:prstGeom>
          <a:solidFill>
            <a:srgbClr val="0D1B16"/>
          </a:solidFill>
          <a:ln>
            <a:solidFill>
              <a:srgbClr val="0D1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749808"/>
            <a:ext cx="118872" cy="40233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768096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8DD9D"/>
                </a:solidFill>
                <a:latin typeface="Nirmala UI"/>
              </a:rPr>
              <a:t>AI +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600200"/>
            <a:ext cx="6583680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EBF3EE"/>
                </a:solidFill>
                <a:latin typeface="Nirmala UI"/>
              </a:rPr>
              <a:t>ડ્રાઇવર ઊંઘ</a:t>
            </a:r>
            <a:br/>
            <a:r>
              <a:rPr sz="3800" b="1">
                <a:solidFill>
                  <a:srgbClr val="EBF3EE"/>
                </a:solidFill>
                <a:latin typeface="Nirmala UI"/>
              </a:rPr>
              <a:t>ઓળખ પ્રણાલી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429000"/>
            <a:ext cx="621792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EB3A6"/>
                </a:solidFill>
                <a:latin typeface="Nirmala UI"/>
              </a:rPr>
              <a:t>રીઅલ-ટાઇમ ડ્રાઇવર મોનિટરિંગ માટેનો</a:t>
            </a:r>
            <a:br/>
            <a:r>
              <a:rPr sz="2100" b="0">
                <a:solidFill>
                  <a:srgbClr val="9EB3A6"/>
                </a:solidFill>
                <a:latin typeface="Nirmala UI"/>
              </a:rPr>
              <a:t>વેબ-આધારિત શૈક્ષણિક પ્રોટોટાઇપ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4773168"/>
            <a:ext cx="3657600" cy="493776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82896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8DD9D"/>
                </a:solidFill>
                <a:latin typeface="Nirmala UI"/>
              </a:rPr>
              <a:t>Python  •  Flask  •  MediaPipe  • 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62472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B3A6"/>
                </a:solidFill>
                <a:latin typeface="Nirmala UI"/>
              </a:rPr>
              <a:t>પ્રસ્તુતકર્તા: ____________________</a:t>
            </a:r>
          </a:p>
        </p:txBody>
      </p:sp>
      <p:sp>
        <p:nvSpPr>
          <p:cNvPr id="10" name="Oval 9"/>
          <p:cNvSpPr/>
          <p:nvPr/>
        </p:nvSpPr>
        <p:spPr>
          <a:xfrm>
            <a:off x="8613648" y="1856231"/>
            <a:ext cx="2057400" cy="2057400"/>
          </a:xfrm>
          <a:prstGeom prst="ellipse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5964" y="2098548"/>
            <a:ext cx="1572768" cy="1572768"/>
          </a:xfrm>
          <a:prstGeom prst="ellipse">
            <a:avLst/>
          </a:prstGeom>
          <a:solidFill>
            <a:srgbClr val="1F4231"/>
          </a:solidFill>
          <a:ln>
            <a:solidFill>
              <a:srgbClr val="1F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25712" y="2368296"/>
            <a:ext cx="1033271" cy="1033271"/>
          </a:xfrm>
          <a:prstGeom prst="ellipse">
            <a:avLst/>
          </a:prstGeom>
          <a:solidFill>
            <a:srgbClr val="28583D"/>
          </a:solidFill>
          <a:ln>
            <a:solidFill>
              <a:srgbClr val="285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90888" y="2633472"/>
            <a:ext cx="502920" cy="502920"/>
          </a:xfrm>
          <a:prstGeom prst="ellipse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4370832"/>
            <a:ext cx="338328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જાગૃતિ • જોખમ સંકેત • સમયસર ચેતવણી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6163056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સલામતી પ્રોટોટાઇપ — પ્રમાણિત વાહન ઉપકરણ નથી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પરિચય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સમસ્યા અને પ્રોજેક્ટનો હેતુ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ડ્રાઇવિંગ દરમિયાન થાકનું વહેલું નિરીક્ષણ કેમ ઉપયોગી છે?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76272"/>
            <a:ext cx="5285232" cy="312724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2395728"/>
            <a:ext cx="64008" cy="320040"/>
          </a:xfrm>
          <a:prstGeom prst="rect">
            <a:avLst/>
          </a:prstGeom>
          <a:solidFill>
            <a:srgbClr val="FF696F"/>
          </a:solidFill>
          <a:ln>
            <a:solidFill>
              <a:srgbClr val="FF6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35915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સમસ્યા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79"/>
            <a:ext cx="4828032" cy="2221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EB3A6"/>
                </a:solidFill>
                <a:latin typeface="Nirmala UI"/>
              </a:rPr>
              <a:t>• થાકથી ધ્યાન અને પ્રતિક્રિયા ધીમી પડી શકે છે.</a:t>
            </a:r>
            <a:br/>
            <a:br/>
            <a:r>
              <a:rPr sz="1600" b="0">
                <a:solidFill>
                  <a:srgbClr val="9EB3A6"/>
                </a:solidFill>
                <a:latin typeface="Nirmala UI"/>
              </a:rPr>
              <a:t>• ઊંઘ આવવી અથવા લાંબી આંખ ઝબકાવવી જોખમનો સંકેત બની શકે છે.</a:t>
            </a:r>
            <a:br/>
            <a:br/>
            <a:r>
              <a:rPr sz="1600" b="0">
                <a:solidFill>
                  <a:srgbClr val="9EB3A6"/>
                </a:solidFill>
                <a:latin typeface="Nirmala UI"/>
              </a:rPr>
              <a:t>• માત્ર માનવીય સ્વ-અનુભૂતિ પર નિર્ભર રહેવું પૂરતું નથી.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76272"/>
            <a:ext cx="5285232" cy="312724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2395728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35915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અમારો હેતુ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79"/>
            <a:ext cx="4828032" cy="22219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EB3A6"/>
                </a:solidFill>
                <a:latin typeface="Nirmala UI"/>
              </a:rPr>
              <a:t>• વેબકેમથી ચહેરાના સંકેતોનું સતત નિરીક્ષણ.</a:t>
            </a:r>
            <a:br/>
            <a:br/>
            <a:r>
              <a:rPr sz="1600" b="0">
                <a:solidFill>
                  <a:srgbClr val="9EB3A6"/>
                </a:solidFill>
                <a:latin typeface="Nirmala UI"/>
              </a:rPr>
              <a:t>• આંખ બંધ રહેવાનો સમય અને અન્ય થાક સંકેતોનું અંદાજન.</a:t>
            </a:r>
            <a:br/>
            <a:br/>
            <a:r>
              <a:rPr sz="1600" b="0">
                <a:solidFill>
                  <a:srgbClr val="9EB3A6"/>
                </a:solidFill>
                <a:latin typeface="Nirmala UI"/>
              </a:rPr>
              <a:t>• જોખમ વધે ત્યારે દૃશ્ય અને અવાજ ચેતવણી.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96128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8DD9D"/>
                </a:solidFill>
                <a:latin typeface="Nirmala UI"/>
              </a:rPr>
              <a:t>મુખ્ય વિચાર: સંકેત ઓળખવો → જોખમનું અંદાજન → સમયસર ચેતવણી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મુખ્ય સુવિધાઓ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સિસ્ટમ શું કરે છે?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લાઇવ કેમેરાથી ડેશબોર્ડ સુધીની મુખ્ય ક્ષમતાઓ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2322576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286000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ચહેરો અને આંખો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7"/>
            <a:ext cx="482803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Face Landmarker વડે ચહેરાના પોઇન્ટ; આંખ ખુલ્લી/બંધ અને EAR ગણતરી.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2322576"/>
            <a:ext cx="64008" cy="320040"/>
          </a:xfrm>
          <a:prstGeom prst="rect">
            <a:avLst/>
          </a:prstGeom>
          <a:solidFill>
            <a:srgbClr val="F5C25B"/>
          </a:solidFill>
          <a:ln>
            <a:solidFill>
              <a:srgbClr val="F5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286000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થાકના સંકેતો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52927"/>
            <a:ext cx="482803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આંખ બંધ સમય, PERCLOS, વારંવાર બગાસાં અને માથાના ઝુકાવનો અંદાજ.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31920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" y="4151376"/>
            <a:ext cx="64008" cy="320040"/>
          </a:xfrm>
          <a:prstGeom prst="rect">
            <a:avLst/>
          </a:prstGeom>
          <a:solidFill>
            <a:srgbClr val="FF696F"/>
          </a:solidFill>
          <a:ln>
            <a:solidFill>
              <a:srgbClr val="FF6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14800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ચેતવણી અને નિયંત્રણ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482803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દૃશ્ય ચેતવણી, Web Audio એલાર્મ, વૈકલ્પિક વોઇસ અલર્ટ અને ટેસ્ટ બટન.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9088" y="4151376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114800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લાઇવ ડેશબોર્ડ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681728"/>
            <a:ext cx="4828032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ડ્રાઇવર સ્થિતિ, જોખમ સ્કોર, ઇવેન્ટ ઇતિહાસ અને કસ્ટમાઇઝ કરી શકાય તેવી થ્રેશોલ્ડ.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રચના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સિસ્ટમ આર્કિટેક્ચર અને ગોપનીયતા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વિડિયો પ્રક્રિયા બ્રાઉઝરમાં થાય છે; સર્વરને વિડિયો મોકલાતો નથી.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7432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16550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DD9D"/>
                </a:solidFill>
                <a:latin typeface="Nirmala UI"/>
              </a:rPr>
              <a:t>વેબકેમ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38144"/>
            <a:ext cx="16550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લાઇવ ફ્રેમ</a:t>
            </a:r>
            <a:br/>
            <a:r>
              <a:rPr sz="1100" b="0">
                <a:solidFill>
                  <a:srgbClr val="9EB3A6"/>
                </a:solidFill>
                <a:latin typeface="Nirmala UI"/>
              </a:rPr>
              <a:t>બ્રાઉઝરમાં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3182112"/>
            <a:ext cx="3108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DD9D"/>
                </a:solidFill>
                <a:latin typeface="Nirmala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27432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953512"/>
            <a:ext cx="16550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DD9D"/>
                </a:solidFill>
                <a:latin typeface="Nirmala UI"/>
              </a:rPr>
              <a:t>MediaPipe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438144"/>
            <a:ext cx="16550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Face Landmarker</a:t>
            </a:r>
            <a:br/>
            <a:r>
              <a:rPr sz="1100" b="0">
                <a:solidFill>
                  <a:srgbClr val="9EB3A6"/>
                </a:solidFill>
                <a:latin typeface="Nirmala UI"/>
              </a:rPr>
              <a:t>ચહેરાના પોઇન્ટ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3182112"/>
            <a:ext cx="3108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DD9D"/>
                </a:solidFill>
                <a:latin typeface="Nirmala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27432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953512"/>
            <a:ext cx="16550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DD9D"/>
                </a:solidFill>
                <a:latin typeface="Nirmala UI"/>
              </a:rPr>
              <a:t>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438144"/>
            <a:ext cx="16550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EAR • PERCLOS</a:t>
            </a:r>
            <a:br/>
            <a:r>
              <a:rPr sz="1100" b="0">
                <a:solidFill>
                  <a:srgbClr val="9EB3A6"/>
                </a:solidFill>
                <a:latin typeface="Nirmala UI"/>
              </a:rPr>
              <a:t>થાકનું અંદાજન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3182112"/>
            <a:ext cx="3108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DD9D"/>
                </a:solidFill>
                <a:latin typeface="Nirmala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27432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953512"/>
            <a:ext cx="16550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C25B"/>
                </a:solidFill>
                <a:latin typeface="Nirmala UI"/>
              </a:rPr>
              <a:t>ચેતવણી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438144"/>
            <a:ext cx="16550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સ્ક્રીન • અવાજ</a:t>
            </a:r>
            <a:br/>
            <a:r>
              <a:rPr sz="1100" b="0">
                <a:solidFill>
                  <a:srgbClr val="9EB3A6"/>
                </a:solidFill>
                <a:latin typeface="Nirmala UI"/>
              </a:rPr>
              <a:t>વોઇસ અલર્ટ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182112"/>
            <a:ext cx="3108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DD9D"/>
                </a:solidFill>
                <a:latin typeface="Nirmala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27432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953512"/>
            <a:ext cx="16550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DD9D"/>
                </a:solidFill>
                <a:latin typeface="Nirmala UI"/>
              </a:rPr>
              <a:t>Flask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438144"/>
            <a:ext cx="16550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API • સેટિંગ્સ</a:t>
            </a:r>
            <a:br/>
            <a:r>
              <a:rPr sz="1100" b="0">
                <a:solidFill>
                  <a:srgbClr val="9EB3A6"/>
                </a:solidFill>
                <a:latin typeface="Nirmala UI"/>
              </a:rPr>
              <a:t>ઇવેન્ટ મેટાડેટા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754880"/>
            <a:ext cx="10241280" cy="713232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937760"/>
            <a:ext cx="9829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F3EE"/>
                </a:solidFill>
                <a:latin typeface="Nirmala UI"/>
              </a:rPr>
              <a:t>ગોપનીયતા: કેમેરા ફ્રેમ સ્થાનિક ઉપકરણ પર જ રહે છે. Flaskને ફક્ત શોધ ઇવેન્ટનું લખાણ/આંકડા મળે છે.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705856"/>
            <a:ext cx="9875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નોંધ: MediaPipe લાઇબ્રેરી, WASM અને મોડેલ પ્રથમ ઉપયોગે ઇન્ટરનેટ પરથી લોડ થાય છે.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ડિટેક્શન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આંખ બંધ ઓળખ: Eye Aspect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છ આંખ-લેન્ડમાર્કથી આંખ ખુલ્લી છે કે બંધ તેનો અંદાજ.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39696"/>
            <a:ext cx="5303520" cy="331012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359152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322576"/>
            <a:ext cx="470915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EAR સૂત્ર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889503"/>
            <a:ext cx="4846320" cy="2404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EB3A6"/>
                </a:solidFill>
                <a:latin typeface="Nirmala UI"/>
              </a:rPr>
              <a:t>EAR = (ઊભા અંતર 1 + ઊભા અંતર 2)</a:t>
            </a:r>
            <a:br/>
            <a:r>
              <a:rPr sz="1800" b="0">
                <a:solidFill>
                  <a:srgbClr val="9EB3A6"/>
                </a:solidFill>
                <a:latin typeface="Nirmala UI"/>
              </a:rPr>
              <a:t>                 ÷ (2 × આડું અંતર)</a:t>
            </a:r>
            <a:br/>
            <a:br/>
            <a:r>
              <a:rPr sz="1800" b="0">
                <a:solidFill>
                  <a:srgbClr val="9EB3A6"/>
                </a:solidFill>
                <a:latin typeface="Nirmala UI"/>
              </a:rPr>
              <a:t>બંને આંખનો સરેરાશ EAR લેવામાં આવે છે.</a:t>
            </a:r>
            <a:br/>
            <a:br/>
            <a:r>
              <a:rPr sz="1800" b="0">
                <a:solidFill>
                  <a:srgbClr val="9EB3A6"/>
                </a:solidFill>
                <a:latin typeface="Nirmala UI"/>
              </a:rPr>
              <a:t>ડિફોલ્ટ થ્રેશોલ્ડ: 0.22</a:t>
            </a:r>
            <a:br/>
            <a:r>
              <a:rPr sz="1800" b="0">
                <a:solidFill>
                  <a:srgbClr val="9EB3A6"/>
                </a:solidFill>
                <a:latin typeface="Nirmala UI"/>
              </a:rPr>
              <a:t>ડિફોલ્ટ સતત બંધ સમય: 1.8 સેકન્ડ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139696"/>
            <a:ext cx="5230368" cy="3310128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6" y="2359152"/>
            <a:ext cx="64008" cy="320040"/>
          </a:xfrm>
          <a:prstGeom prst="rect">
            <a:avLst/>
          </a:prstGeom>
          <a:solidFill>
            <a:srgbClr val="F5C25B"/>
          </a:solidFill>
          <a:ln>
            <a:solidFill>
              <a:srgbClr val="F5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322576"/>
            <a:ext cx="4636007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નિર્ણયની પ્રક્રિયા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889503"/>
            <a:ext cx="4773168" cy="2404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EB3A6"/>
                </a:solidFill>
                <a:latin typeface="Nirmala UI"/>
              </a:rPr>
              <a:t>EAR થ્રેશોલ્ડથી ઉપર → આંખ ખુલ્લી.</a:t>
            </a:r>
            <a:br/>
            <a:br/>
            <a:r>
              <a:rPr sz="1600" b="0">
                <a:solidFill>
                  <a:srgbClr val="9EB3A6"/>
                </a:solidFill>
                <a:latin typeface="Nirmala UI"/>
              </a:rPr>
              <a:t>EAR થ્રેશોલ્ડથી નીચે → બંધ સમય માપવાનું શરૂ.</a:t>
            </a:r>
            <a:br/>
            <a:br/>
            <a:r>
              <a:rPr sz="1600" b="0">
                <a:solidFill>
                  <a:srgbClr val="9EB3A6"/>
                </a:solidFill>
                <a:latin typeface="Nirmala UI"/>
              </a:rPr>
              <a:t>સમય સેટ કરેલી મર્યાદા વટાવે → જોખમ સ્થિતિ અને એલાર્મ.</a:t>
            </a:r>
            <a:br/>
            <a:br/>
            <a:r>
              <a:rPr sz="1600" b="0">
                <a:solidFill>
                  <a:srgbClr val="9EB3A6"/>
                </a:solidFill>
                <a:latin typeface="Nirmala UI"/>
              </a:rPr>
              <a:t>થ્રેશોલ્ડ ડેશબોર્ડમાંથી બદલી શકાય છે.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8DD9D"/>
                </a:solidFill>
                <a:latin typeface="Nirmala UI"/>
              </a:rPr>
              <a:t>ટૂંકા પલકારાને બદલે સતત આંખ બંધ રહેવાનો સમય ધ્યાનમાં લેવાય છે.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ડિટેક્શન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અન્ય થાક સંકેતો અને જોખમ સ્કોર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બહુવિધ સંકેતોનું સંયોજન — નિદાન નહીં, માત્ર હ્યુરિસ્ટિક અંદાજ.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84831"/>
            <a:ext cx="5285232" cy="160020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2304287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26771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PERCLOS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39"/>
            <a:ext cx="482803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રોલિંગ 60 સેકન્ડમાં ચહેરો દેખાતો હોય ત્યારે બંધ આંખના નમૂનાઓનું પ્રમાણ.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84831"/>
            <a:ext cx="5285232" cy="160020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2304287"/>
            <a:ext cx="64008" cy="320040"/>
          </a:xfrm>
          <a:prstGeom prst="rect">
            <a:avLst/>
          </a:prstGeom>
          <a:solidFill>
            <a:srgbClr val="F5C25B"/>
          </a:solidFill>
          <a:ln>
            <a:solidFill>
              <a:srgbClr val="F5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26771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બગાસાં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34639"/>
            <a:ext cx="482803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મોઢું કેટલું ખુલ્યું તે માપે; 5 મિનિટમાં વારંવાર યૉન જોખમ સ્કોર વધારે.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50208"/>
            <a:ext cx="5285232" cy="160020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" y="4169664"/>
            <a:ext cx="64008" cy="320040"/>
          </a:xfrm>
          <a:prstGeom prst="rect">
            <a:avLst/>
          </a:prstGeom>
          <a:solidFill>
            <a:srgbClr val="F5C25B"/>
          </a:solidFill>
          <a:ln>
            <a:solidFill>
              <a:srgbClr val="F5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33088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માથાની સ્થિતિ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0016"/>
            <a:ext cx="482803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આંખની રેખાનો ઝુકાવ અને નાકની સાપેક્ષ સ્થિતિમાં ફેરફારનો અંદાજ.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50208"/>
            <a:ext cx="5285232" cy="160020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9088" y="4169664"/>
            <a:ext cx="64008" cy="320040"/>
          </a:xfrm>
          <a:prstGeom prst="rect">
            <a:avLst/>
          </a:prstGeom>
          <a:solidFill>
            <a:srgbClr val="FF696F"/>
          </a:solidFill>
          <a:ln>
            <a:solidFill>
              <a:srgbClr val="FF6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133088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જોખમ સ્કોર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00016"/>
            <a:ext cx="482803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આંખ બંધ સમય + PERCLOS + બગાસાં + માથાની હિલચાલનું હ્યુરિસ્ટિક સંયોજન.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96F"/>
                </a:solidFill>
                <a:latin typeface="Nirmala UI"/>
              </a:rPr>
              <a:t>જોખમ ટકાવારી વાસ્તવિક સંભાવના, તબીબી માપ કે પ્રમાણિત માપદંડ નથી.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સિસ્ટમ વર્તન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કાર્યપ્રવાહ અને ચેતવણી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મોનિટરિંગ શરૂ થયા પછી શું થાય છે?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377440"/>
            <a:ext cx="2423160" cy="1389888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542032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8DD9D"/>
                </a:solidFill>
                <a:latin typeface="Nirmala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62072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BF3EE"/>
                </a:solidFill>
                <a:latin typeface="Nirmala UI"/>
              </a:rPr>
              <a:t>કેમેરા ચાલુ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264408"/>
            <a:ext cx="2084831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વપરાશકર્તાની મંજૂરી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862072"/>
            <a:ext cx="3108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DD9D"/>
                </a:solidFill>
                <a:latin typeface="Nirmala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9312" y="2377440"/>
            <a:ext cx="2423160" cy="1389888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2542032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8DD9D"/>
                </a:solidFill>
                <a:latin typeface="Nirmala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862072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BF3EE"/>
                </a:solidFill>
                <a:latin typeface="Nirmala UI"/>
              </a:rPr>
              <a:t>ચહેરો શોધો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3264408"/>
            <a:ext cx="2084831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એક ચહેરો જરૂરી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862072"/>
            <a:ext cx="3108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DD9D"/>
                </a:solidFill>
                <a:latin typeface="Nirmala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377440"/>
            <a:ext cx="2423160" cy="1389888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2542032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8DD9D"/>
                </a:solidFill>
                <a:latin typeface="Nirmala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862072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BF3EE"/>
                </a:solidFill>
                <a:latin typeface="Nirmala UI"/>
              </a:rPr>
              <a:t>સંકેત માપો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3264408"/>
            <a:ext cx="2084831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આંખ • મોઢું • માથું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862072"/>
            <a:ext cx="3108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8DD9D"/>
                </a:solidFill>
                <a:latin typeface="Nirmala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45167" y="2377440"/>
            <a:ext cx="2423160" cy="1389888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59" y="2542032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8DD9D"/>
                </a:solidFill>
                <a:latin typeface="Nirmala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862072"/>
            <a:ext cx="208483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BF3EE"/>
                </a:solidFill>
                <a:latin typeface="Nirmala UI"/>
              </a:rPr>
              <a:t>જોખમ આંકો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3264408"/>
            <a:ext cx="2084831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EB3A6"/>
                </a:solidFill>
                <a:latin typeface="Nirmala UI"/>
              </a:rPr>
              <a:t>થ્રેશોલ્ડ તપાસો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343400"/>
            <a:ext cx="10195560" cy="896112"/>
          </a:xfrm>
          <a:prstGeom prst="roundRect">
            <a:avLst>
              <a:gd name="adj" fmla="val 12000"/>
            </a:avLst>
          </a:prstGeom>
          <a:solidFill>
            <a:srgbClr val="2B1516"/>
          </a:solidFill>
          <a:ln>
            <a:solidFill>
              <a:srgbClr val="693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526280"/>
            <a:ext cx="9646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696F"/>
                </a:solidFill>
                <a:latin typeface="Nirmala UI"/>
              </a:rPr>
              <a:t>જોખમ વધે ત્યારે: “DROWSINESS DETECTED!”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68112"/>
            <a:ext cx="982980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સ્ક્રીન પર ચેતવણી  •  વારંવાર વાગતું અવાજ એલાર્મ  •  વૈકલ્પિક વોઇસ સૂચના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વપરાશકર્તા અનુભવ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ડેશબોર્ડ, નિયંત્રણ અને ગોઠવણ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એક સ્ક્રીન પર લાઇવ સ્થિતિ અને પ્રોટોટાઇપ નિયંત્રણો.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21408"/>
            <a:ext cx="5285232" cy="338328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340863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304288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ડેશબોર્ડ પર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871215"/>
            <a:ext cx="4828032" cy="2478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EB3A6"/>
                </a:solidFill>
                <a:latin typeface="Nirmala UI"/>
              </a:rPr>
              <a:t>• લાઇવ કેમેરા અને લેન્ડમાર્ક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• ચહેરો/કેમેરા સ્થિતિ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• આંખ, EAR, આંખ બંધ સમય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• જોખમ, બગાસાં, માથાની સ્થિતિ, PERCLOS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• ઇવેન્ટ ઇતિહાસ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21408"/>
            <a:ext cx="5285232" cy="338328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2340863"/>
            <a:ext cx="64008" cy="320040"/>
          </a:xfrm>
          <a:prstGeom prst="rect">
            <a:avLst/>
          </a:prstGeom>
          <a:solidFill>
            <a:srgbClr val="F5C25B"/>
          </a:solidFill>
          <a:ln>
            <a:solidFill>
              <a:srgbClr val="F5C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304288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નિયંત્રણ અને થ્રેશોલ્ડ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71215"/>
            <a:ext cx="4828032" cy="2478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• કેમેરા/મોનિટરિંગ શરૂ અથવા બંધ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• એલાર્મ ટેસ્ટ; અવાજ અને વોઇસ ચાલુ/બંધ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• આંકડા રીસેટ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• EAR, બંધ સમય, PERCLOS વિન્ડો, જોખમ મર્યાદા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• યૉન મર્યાદા, એલાર્મ કૂલડાઉન, હેડ ટિલ્ટ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79008"/>
            <a:ext cx="103327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સેટિંગ અને ઇવેન્ટ ઇતિહાસ સર્વર મેમરીમાં રહે છે; સર્વર બંધ થતાં રીસેટ થાય છે.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અમલીકરણ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ટેકનોલોજી અને ડેમો ચલાવવાની રીત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આ પ્રોટોટાઇપ Windows પર સરળતાથી ચલાવવા માટે બનાવ્યો છે.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5285232" cy="315468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240280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ટેક સ્ટેક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807208"/>
            <a:ext cx="4828032" cy="2249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EB3A6"/>
                </a:solidFill>
                <a:latin typeface="Nirmala UI"/>
              </a:rPr>
              <a:t>Python + Flask — સર્વર અને APIs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HTML / CSS / JavaScript — ડેશબોર્ડ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MediaPipe Face Landmarker — ચહેરા લેન્ડમાર્ક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Web Audio API — બ્રાઉઝર એલાર્મ</a:t>
            </a:r>
            <a:br/>
            <a:br/>
            <a:r>
              <a:rPr sz="1500" b="0">
                <a:solidFill>
                  <a:srgbClr val="9EB3A6"/>
                </a:solidFill>
                <a:latin typeface="Nirmala UI"/>
              </a:rPr>
              <a:t>ઇવેન્ટ્સ/સેટિંગ્સ — ઇન-મેમરી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57400"/>
            <a:ext cx="5285232" cy="3154680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754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ડેમો માટેના પગલાં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98064"/>
            <a:ext cx="4709160" cy="2103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EB3A6"/>
                </a:solidFill>
                <a:latin typeface="Nirmala UI"/>
              </a:rPr>
              <a:t>1. Python 3.11 ઇન્સ્ટોલ કરો.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2. requirements.txt માંથી Flask ઇન્સ્ટોલ કરો.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3. python app.py ચલાવો.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4. localhost:5000 ખોલી કેમેરા પરમિશન આપો.</a:t>
            </a:r>
            <a:br/>
            <a:br/>
            <a:r>
              <a:rPr sz="1400" b="0">
                <a:solidFill>
                  <a:srgbClr val="9EB3A6"/>
                </a:solidFill>
                <a:latin typeface="Nirmala UI"/>
              </a:rPr>
              <a:t>5. Start monitoring દબાવો.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468112"/>
            <a:ext cx="10469880" cy="612648"/>
          </a:xfrm>
          <a:prstGeom prst="roundRect">
            <a:avLst>
              <a:gd name="adj" fmla="val 12000"/>
            </a:avLst>
          </a:prstGeom>
          <a:solidFill>
            <a:srgbClr val="12251D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623560"/>
            <a:ext cx="101041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8DD9D"/>
                </a:solidFill>
                <a:latin typeface="Nirmala UI"/>
              </a:rPr>
              <a:t>પ્રથમ વખત MediaPipe JavaScript/WASM અને મોડેલ લોડ કરવા ઇન્ટરનેટ જરૂરી છે.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38912"/>
            <a:ext cx="100584" cy="310896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11480"/>
            <a:ext cx="53035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8DD9D"/>
                </a:solidFill>
                <a:latin typeface="Nirmala UI"/>
              </a:rPr>
              <a:t>DRIVEAWARE  /  પ્રોજેક્ટ પ્રેઝન્ટેશન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411480"/>
            <a:ext cx="233172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EB3A6"/>
                </a:solidFill>
                <a:latin typeface="Nirmala UI"/>
              </a:rPr>
              <a:t>સમાપન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BF3EE"/>
                </a:solidFill>
                <a:latin typeface="Nirmala UI"/>
              </a:rPr>
              <a:t>મર્યાદાઓ, ભવિષ્ય અને નિષ્કર્ષ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સલામતી દાવા કરતાં જવાબદાર પ્રોટોટાઇપ અને યોગ્ય માન્યતા વધુ મહત્વની છે.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263E31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28816"/>
            <a:ext cx="9418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EB3A6"/>
                </a:solidFill>
                <a:latin typeface="Nirmala UI"/>
              </a:rPr>
              <a:t>શૈક્ષણિક પ્રોટોટાઇપ  •  સલામતી માટેનું એકમાત્ર સાધન નથી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5952" y="650138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DD9D"/>
                </a:solidFill>
                <a:latin typeface="Nirmala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48256"/>
            <a:ext cx="5285232" cy="2084831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2267712"/>
            <a:ext cx="64008" cy="320040"/>
          </a:xfrm>
          <a:prstGeom prst="rect">
            <a:avLst/>
          </a:prstGeom>
          <a:solidFill>
            <a:srgbClr val="FF696F"/>
          </a:solidFill>
          <a:ln>
            <a:solidFill>
              <a:srgbClr val="FF6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231136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હાલની મર્યાદાઓ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98064"/>
            <a:ext cx="4828032" cy="11795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• પ્રકાશ, ચશ્માં, કેમેરા કોણ અને વ્યક્તિગત તફાવત અસર કરે છે.</a:t>
            </a:r>
            <a:br/>
            <a:br/>
            <a:r>
              <a:rPr sz="1300" b="0">
                <a:solidFill>
                  <a:srgbClr val="9EB3A6"/>
                </a:solidFill>
                <a:latin typeface="Nirmala UI"/>
              </a:rPr>
              <a:t>• એકથી વધુ ચહેરા હોય તો માપન રોકાય છે.</a:t>
            </a:r>
            <a:br/>
            <a:br/>
            <a:r>
              <a:rPr sz="1300" b="0">
                <a:solidFill>
                  <a:srgbClr val="9EB3A6"/>
                </a:solidFill>
                <a:latin typeface="Nirmala UI"/>
              </a:rPr>
              <a:t>• હ્યુરિસ્ટિક સ્કોર વાસ્તવિક જીવનમાં માન્ય કરેલો નથી.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48256"/>
            <a:ext cx="5285232" cy="2084831"/>
          </a:xfrm>
          <a:prstGeom prst="roundRect">
            <a:avLst>
              <a:gd name="adj" fmla="val 12000"/>
            </a:avLst>
          </a:prstGeom>
          <a:solidFill>
            <a:srgbClr val="0D1B16"/>
          </a:solidFill>
          <a:ln>
            <a:solidFill>
              <a:srgbClr val="263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2267712"/>
            <a:ext cx="64008" cy="320040"/>
          </a:xfrm>
          <a:prstGeom prst="rect">
            <a:avLst/>
          </a:prstGeom>
          <a:solidFill>
            <a:srgbClr val="68DD9D"/>
          </a:solidFill>
          <a:ln>
            <a:solidFill>
              <a:srgbClr val="68D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231136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BF3EE"/>
                </a:solidFill>
                <a:latin typeface="Nirmala UI"/>
              </a:rPr>
              <a:t>ભવિષ્યમાં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98064"/>
            <a:ext cx="4828032" cy="11795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B3A6"/>
                </a:solidFill>
                <a:latin typeface="Nirmala UI"/>
              </a:rPr>
              <a:t>• વિવિધ પ્રકાશ/ચશ્માં/કેમેરા પર પરીક્ષણ.</a:t>
            </a:r>
            <a:br/>
            <a:br/>
            <a:r>
              <a:rPr sz="1300" b="0">
                <a:solidFill>
                  <a:srgbClr val="9EB3A6"/>
                </a:solidFill>
                <a:latin typeface="Nirmala UI"/>
              </a:rPr>
              <a:t>• વાસ્તવિક ડેટા સાથે થ્રેશોલ્ડનું કેલિબ્રેશન.</a:t>
            </a:r>
            <a:br/>
            <a:br/>
            <a:r>
              <a:rPr sz="1300" b="0">
                <a:solidFill>
                  <a:srgbClr val="9EB3A6"/>
                </a:solidFill>
                <a:latin typeface="Nirmala UI"/>
              </a:rPr>
              <a:t>• સુલભતા, ભૂલ સંભાળ અને કામગીરી સુધારવી.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80560"/>
            <a:ext cx="10378440" cy="1024128"/>
          </a:xfrm>
          <a:prstGeom prst="roundRect">
            <a:avLst>
              <a:gd name="adj" fmla="val 12000"/>
            </a:avLst>
          </a:prstGeom>
          <a:solidFill>
            <a:srgbClr val="2B1516"/>
          </a:solidFill>
          <a:ln>
            <a:solidFill>
              <a:srgbClr val="693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636008"/>
            <a:ext cx="9875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96F"/>
                </a:solidFill>
                <a:latin typeface="Nirmala UI"/>
              </a:rPr>
              <a:t>મહત્વની સલામતી નોંધ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010912"/>
            <a:ext cx="978408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BF3EE"/>
                </a:solidFill>
                <a:latin typeface="Nirmala UI"/>
              </a:rPr>
              <a:t>આ પ્રમાણિત ઓટોમોટિવ સલામતી ઉપકરણ નથી. ડ્રાઇવિંગમાં થાક સામે એકમાત્ર સુરક્ષા તરીકે તેનો ઉપયોગ ન કરો.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03327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8DD9D"/>
                </a:solidFill>
                <a:latin typeface="Nirmala UI"/>
              </a:rPr>
              <a:t>આભાર  •  પ્રશ્નો?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ડ્રાઇવર ઊંઘ ઓળખ પ્રણાલી — ગુજરાતી પ્રેઝન્ટેશન</dc:title>
  <dc:subject>Flask અને MediaPipe આધારિત ડ્રાઇવર મોનિટરિંગ શૈક્ષણિક પ્રોટોટાઇપ</dc:subject>
  <dc:creator>DriveAware Project</dc:creator>
  <cp:keywords>Gujarati, Driver Drowsiness, MediaPipe, Flask, Presentation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